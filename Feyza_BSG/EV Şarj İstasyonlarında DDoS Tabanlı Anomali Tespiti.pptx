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Alyssum" charset="1" panose="00000500000000000000"/>
      <p:regular r:id="rId14"/>
    </p:embeddedFont>
    <p:embeddedFont>
      <p:font typeface="Cardo Italics" charset="1" panose="02020600000000000000"/>
      <p:regular r:id="rId15"/>
    </p:embeddedFont>
    <p:embeddedFont>
      <p:font typeface="Pathway Gothic One" charset="1" panose="02000506050000020004"/>
      <p:regular r:id="rId16"/>
    </p:embeddedFont>
    <p:embeddedFont>
      <p:font typeface="League Spartan" charset="1" panose="00000800000000000000"/>
      <p:regular r:id="rId17"/>
    </p:embeddedFont>
    <p:embeddedFont>
      <p:font typeface="Times New Roman MT" charset="1" panose="02030502070405020303"/>
      <p:regular r:id="rId18"/>
    </p:embeddedFont>
    <p:embeddedFont>
      <p:font typeface="Arimo" charset="1" panose="020B0604020202020204"/>
      <p:regular r:id="rId19"/>
    </p:embeddedFont>
    <p:embeddedFont>
      <p:font typeface="The Seasons" charset="1" panose="00000000000000000000"/>
      <p:regular r:id="rId20"/>
    </p:embeddedFont>
    <p:embeddedFont>
      <p:font typeface="Prompt" charset="1" panose="0000050000000000000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sv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Relationship Id="rId6" Target="../media/image18.png" Type="http://schemas.openxmlformats.org/officeDocument/2006/relationships/image"/><Relationship Id="rId7" Target="../media/image19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Relationship Id="rId3" Target="../media/image21.svg" Type="http://schemas.openxmlformats.org/officeDocument/2006/relationships/image"/><Relationship Id="rId4" Target="../media/image22.png" Type="http://schemas.openxmlformats.org/officeDocument/2006/relationships/image"/><Relationship Id="rId5" Target="../media/image23.svg" Type="http://schemas.openxmlformats.org/officeDocument/2006/relationships/image"/><Relationship Id="rId6" Target="../media/image24.png" Type="http://schemas.openxmlformats.org/officeDocument/2006/relationships/image"/><Relationship Id="rId7" Target="../media/image25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Relationship Id="rId3" Target="../media/image21.svg" Type="http://schemas.openxmlformats.org/officeDocument/2006/relationships/image"/><Relationship Id="rId4" Target="../media/image26.png" Type="http://schemas.openxmlformats.org/officeDocument/2006/relationships/image"/><Relationship Id="rId5" Target="../media/image27.svg" Type="http://schemas.openxmlformats.org/officeDocument/2006/relationships/image"/><Relationship Id="rId6" Target="../media/image28.png" Type="http://schemas.openxmlformats.org/officeDocument/2006/relationships/image"/><Relationship Id="rId7" Target="../media/image29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7622753">
            <a:off x="-3240474" y="-6681900"/>
            <a:ext cx="23233544" cy="23233544"/>
          </a:xfrm>
          <a:custGeom>
            <a:avLst/>
            <a:gdLst/>
            <a:ahLst/>
            <a:cxnLst/>
            <a:rect r="r" b="b" t="t" l="l"/>
            <a:pathLst>
              <a:path h="23233544" w="23233544">
                <a:moveTo>
                  <a:pt x="0" y="0"/>
                </a:moveTo>
                <a:lnTo>
                  <a:pt x="23233545" y="0"/>
                </a:lnTo>
                <a:lnTo>
                  <a:pt x="23233545" y="23233545"/>
                </a:lnTo>
                <a:lnTo>
                  <a:pt x="0" y="232335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4772513"/>
            <a:ext cx="6735251" cy="5514487"/>
          </a:xfrm>
          <a:custGeom>
            <a:avLst/>
            <a:gdLst/>
            <a:ahLst/>
            <a:cxnLst/>
            <a:rect r="r" b="b" t="t" l="l"/>
            <a:pathLst>
              <a:path h="5514487" w="6735251">
                <a:moveTo>
                  <a:pt x="0" y="0"/>
                </a:moveTo>
                <a:lnTo>
                  <a:pt x="6735251" y="0"/>
                </a:lnTo>
                <a:lnTo>
                  <a:pt x="6735251" y="5514487"/>
                </a:lnTo>
                <a:lnTo>
                  <a:pt x="0" y="55144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2931420" y="7116830"/>
            <a:ext cx="5041763" cy="29111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5"/>
              </a:lnSpc>
            </a:pPr>
            <a:r>
              <a:rPr lang="en-US" sz="4242">
                <a:solidFill>
                  <a:srgbClr val="FFFFFF"/>
                </a:solidFill>
                <a:latin typeface="Alyssum"/>
                <a:ea typeface="Alyssum"/>
                <a:cs typeface="Alyssum"/>
                <a:sym typeface="Alyssum"/>
              </a:rPr>
              <a:t>230541123  FEYZA SAĞMAN</a:t>
            </a:r>
          </a:p>
          <a:p>
            <a:pPr algn="r">
              <a:lnSpc>
                <a:spcPts val="3775"/>
              </a:lnSpc>
            </a:pPr>
          </a:p>
          <a:p>
            <a:pPr algn="r">
              <a:lnSpc>
                <a:spcPts val="3775"/>
              </a:lnSpc>
            </a:pPr>
            <a:r>
              <a:rPr lang="en-US" sz="4242">
                <a:solidFill>
                  <a:srgbClr val="FFFFFF"/>
                </a:solidFill>
                <a:latin typeface="Alyssum"/>
                <a:ea typeface="Alyssum"/>
                <a:cs typeface="Alyssum"/>
                <a:sym typeface="Alyssum"/>
              </a:rPr>
              <a:t>BİLGİ SİSTEM GÜVENLİĞİ</a:t>
            </a:r>
          </a:p>
          <a:p>
            <a:pPr algn="r">
              <a:lnSpc>
                <a:spcPts val="3775"/>
              </a:lnSpc>
            </a:pPr>
            <a:r>
              <a:rPr lang="en-US" sz="4242">
                <a:solidFill>
                  <a:srgbClr val="FFFFFF"/>
                </a:solidFill>
                <a:latin typeface="Alyssum"/>
                <a:ea typeface="Alyssum"/>
                <a:cs typeface="Alyssum"/>
                <a:sym typeface="Alyssum"/>
              </a:rPr>
              <a:t>GRUP-7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0" y="-980893"/>
            <a:ext cx="16920959" cy="9243663"/>
            <a:chOff x="0" y="0"/>
            <a:chExt cx="22561278" cy="12324884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1537571"/>
              <a:ext cx="22561278" cy="1078018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596"/>
                </a:lnSpc>
              </a:pPr>
              <a:r>
                <a:rPr lang="en-US" sz="12724">
                  <a:solidFill>
                    <a:srgbClr val="FFFFFF"/>
                  </a:solidFill>
                  <a:latin typeface="Alyssum"/>
                  <a:ea typeface="Alyssum"/>
                  <a:cs typeface="Alyssum"/>
                  <a:sym typeface="Alyssum"/>
                </a:rPr>
                <a:t>EV ŞARJ İSTASYONLARINDA DDOS TABANLI ANOMALI </a:t>
              </a:r>
            </a:p>
            <a:p>
              <a:pPr algn="ctr">
                <a:lnSpc>
                  <a:spcPts val="12596"/>
                </a:lnSpc>
              </a:pPr>
              <a:r>
                <a:rPr lang="en-US" sz="12724">
                  <a:solidFill>
                    <a:srgbClr val="FFFFFF"/>
                  </a:solidFill>
                  <a:latin typeface="Alyssum"/>
                  <a:ea typeface="Alyssum"/>
                  <a:cs typeface="Alyssum"/>
                  <a:sym typeface="Alyssum"/>
                </a:rPr>
                <a:t>TESPITI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-123825"/>
              <a:ext cx="22561278" cy="14055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832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80310" y="3887892"/>
            <a:ext cx="14765033" cy="6684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79"/>
              </a:lnSpc>
            </a:pPr>
            <a:r>
              <a:rPr lang="en-US" sz="3591" i="true">
                <a:solidFill>
                  <a:srgbClr val="FFFFFF"/>
                </a:solidFill>
                <a:latin typeface="Cardo Italics"/>
                <a:ea typeface="Cardo Italics"/>
                <a:cs typeface="Cardo Italics"/>
                <a:sym typeface="Cardo Italics"/>
              </a:rPr>
              <a:t>EV şarj istasyo</a:t>
            </a:r>
            <a:r>
              <a:rPr lang="en-US" sz="3591" i="true">
                <a:solidFill>
                  <a:srgbClr val="FFFFFF"/>
                </a:solidFill>
                <a:latin typeface="Cardo Italics"/>
                <a:ea typeface="Cardo Italics"/>
                <a:cs typeface="Cardo Italics"/>
                <a:sym typeface="Cardo Italics"/>
              </a:rPr>
              <a:t>nları, akıllı şebeke altyapısının kritik parçalarıdır.</a:t>
            </a:r>
          </a:p>
          <a:p>
            <a:pPr algn="l">
              <a:lnSpc>
                <a:spcPts val="8979"/>
              </a:lnSpc>
            </a:pPr>
            <a:r>
              <a:rPr lang="en-US" sz="3591" i="true">
                <a:solidFill>
                  <a:srgbClr val="FFFFFF"/>
                </a:solidFill>
                <a:latin typeface="Cardo Italics"/>
                <a:ea typeface="Cardo Italics"/>
                <a:cs typeface="Cardo Italics"/>
                <a:sym typeface="Cardo Italics"/>
              </a:rPr>
              <a:t>Siber saldırılar, sistemlerin kararlılığını ve güvenliğini tehdit eder.</a:t>
            </a:r>
          </a:p>
          <a:p>
            <a:pPr algn="l">
              <a:lnSpc>
                <a:spcPts val="8979"/>
              </a:lnSpc>
            </a:pPr>
            <a:r>
              <a:rPr lang="en-US" sz="3591" i="true">
                <a:solidFill>
                  <a:srgbClr val="FFFFFF"/>
                </a:solidFill>
                <a:latin typeface="Cardo Italics"/>
                <a:ea typeface="Cardo Italics"/>
                <a:cs typeface="Cardo Italics"/>
                <a:sym typeface="Cardo Italics"/>
              </a:rPr>
              <a:t>Makine öğrenimi tabanlı anomaly detection sistemleri bu tehditleri erken tespit edebilir.</a:t>
            </a:r>
          </a:p>
          <a:p>
            <a:pPr algn="l">
              <a:lnSpc>
                <a:spcPts val="8979"/>
              </a:lnSpc>
            </a:pPr>
            <a:r>
              <a:rPr lang="en-US" sz="3591" i="true">
                <a:solidFill>
                  <a:srgbClr val="FFFFFF"/>
                </a:solidFill>
                <a:latin typeface="Cardo Italics"/>
                <a:ea typeface="Cardo Italics"/>
                <a:cs typeface="Cardo Italics"/>
                <a:sym typeface="Cardo Italics"/>
              </a:rPr>
              <a:t>Bu sunumda AD-GS çerçevesiyle tespit edilen DDoS saldırısı ele alınmıştır.</a:t>
            </a:r>
          </a:p>
          <a:p>
            <a:pPr algn="l">
              <a:lnSpc>
                <a:spcPts val="8979"/>
              </a:lnSpc>
            </a:pP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5528155" y="9564510"/>
            <a:ext cx="2180989" cy="590850"/>
          </a:xfrm>
          <a:custGeom>
            <a:avLst/>
            <a:gdLst/>
            <a:ahLst/>
            <a:cxnLst/>
            <a:rect r="r" b="b" t="t" l="l"/>
            <a:pathLst>
              <a:path h="590850" w="2180989">
                <a:moveTo>
                  <a:pt x="0" y="0"/>
                </a:moveTo>
                <a:lnTo>
                  <a:pt x="2180989" y="0"/>
                </a:lnTo>
                <a:lnTo>
                  <a:pt x="2180989" y="590850"/>
                </a:lnTo>
                <a:lnTo>
                  <a:pt x="0" y="590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015979" y="572626"/>
            <a:ext cx="3693165" cy="4765375"/>
          </a:xfrm>
          <a:custGeom>
            <a:avLst/>
            <a:gdLst/>
            <a:ahLst/>
            <a:cxnLst/>
            <a:rect r="r" b="b" t="t" l="l"/>
            <a:pathLst>
              <a:path h="4765375" w="3693165">
                <a:moveTo>
                  <a:pt x="0" y="0"/>
                </a:moveTo>
                <a:lnTo>
                  <a:pt x="3693165" y="0"/>
                </a:lnTo>
                <a:lnTo>
                  <a:pt x="3693165" y="4765375"/>
                </a:lnTo>
                <a:lnTo>
                  <a:pt x="0" y="47653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04110" y="-249564"/>
            <a:ext cx="7958717" cy="3887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40"/>
              </a:lnSpc>
              <a:spcBef>
                <a:spcPct val="0"/>
              </a:spcBef>
            </a:pPr>
            <a:r>
              <a:rPr lang="en-US" sz="11100" i="true">
                <a:solidFill>
                  <a:srgbClr val="FFFFFF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NEDEN ANO</a:t>
            </a:r>
            <a:r>
              <a:rPr lang="en-US" sz="11100" i="true">
                <a:solidFill>
                  <a:srgbClr val="FFFFFF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MALI TESPITI?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33170" y="3895448"/>
            <a:ext cx="1744517" cy="1118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49"/>
              </a:lnSpc>
            </a:pPr>
            <a:r>
              <a:rPr lang="en-US" sz="9044" i="true">
                <a:solidFill>
                  <a:srgbClr val="FF431B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3170" y="4907406"/>
            <a:ext cx="1744517" cy="1118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49"/>
              </a:lnSpc>
            </a:pPr>
            <a:r>
              <a:rPr lang="en-US" sz="9044" i="true">
                <a:solidFill>
                  <a:srgbClr val="FF431B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33170" y="6051250"/>
            <a:ext cx="1744517" cy="1118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49"/>
              </a:lnSpc>
            </a:pPr>
            <a:r>
              <a:rPr lang="en-US" sz="9044" i="true">
                <a:solidFill>
                  <a:srgbClr val="FF431B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33170" y="8446146"/>
            <a:ext cx="1744517" cy="1118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49"/>
              </a:lnSpc>
            </a:pPr>
            <a:r>
              <a:rPr lang="en-US" sz="9044" i="true">
                <a:solidFill>
                  <a:srgbClr val="FF431B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7622753">
            <a:off x="-1649959" y="-8312660"/>
            <a:ext cx="30356903" cy="30356903"/>
          </a:xfrm>
          <a:custGeom>
            <a:avLst/>
            <a:gdLst/>
            <a:ahLst/>
            <a:cxnLst/>
            <a:rect r="r" b="b" t="t" l="l"/>
            <a:pathLst>
              <a:path h="30356903" w="30356903">
                <a:moveTo>
                  <a:pt x="0" y="0"/>
                </a:moveTo>
                <a:lnTo>
                  <a:pt x="30356903" y="0"/>
                </a:lnTo>
                <a:lnTo>
                  <a:pt x="30356903" y="30356902"/>
                </a:lnTo>
                <a:lnTo>
                  <a:pt x="0" y="303569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139690" y="-644723"/>
            <a:ext cx="18880283" cy="10931723"/>
          </a:xfrm>
          <a:custGeom>
            <a:avLst/>
            <a:gdLst/>
            <a:ahLst/>
            <a:cxnLst/>
            <a:rect r="r" b="b" t="t" l="l"/>
            <a:pathLst>
              <a:path h="10931723" w="18880283">
                <a:moveTo>
                  <a:pt x="0" y="0"/>
                </a:moveTo>
                <a:lnTo>
                  <a:pt x="18880282" y="0"/>
                </a:lnTo>
                <a:lnTo>
                  <a:pt x="18880282" y="10931723"/>
                </a:lnTo>
                <a:lnTo>
                  <a:pt x="0" y="109317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594312" y="159574"/>
            <a:ext cx="8743570" cy="5825403"/>
          </a:xfrm>
          <a:custGeom>
            <a:avLst/>
            <a:gdLst/>
            <a:ahLst/>
            <a:cxnLst/>
            <a:rect r="r" b="b" t="t" l="l"/>
            <a:pathLst>
              <a:path h="5825403" w="8743570">
                <a:moveTo>
                  <a:pt x="0" y="0"/>
                </a:moveTo>
                <a:lnTo>
                  <a:pt x="8743569" y="0"/>
                </a:lnTo>
                <a:lnTo>
                  <a:pt x="8743569" y="5825404"/>
                </a:lnTo>
                <a:lnTo>
                  <a:pt x="0" y="58254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77866" y="169700"/>
            <a:ext cx="7749965" cy="3921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21"/>
              </a:lnSpc>
              <a:spcBef>
                <a:spcPct val="0"/>
              </a:spcBef>
            </a:pPr>
            <a:r>
              <a:rPr lang="en-US" sz="11229" i="true">
                <a:solidFill>
                  <a:srgbClr val="FFFFFF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ANOMALI SENARYOSU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-252479" y="4270478"/>
            <a:ext cx="6318979" cy="873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5"/>
              </a:lnSpc>
              <a:spcBef>
                <a:spcPct val="0"/>
              </a:spcBef>
            </a:pPr>
            <a:r>
              <a:rPr lang="en-US" sz="5004" i="true">
                <a:solidFill>
                  <a:srgbClr val="FFFFFF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DDOS</a:t>
            </a:r>
            <a:r>
              <a:rPr lang="en-US" sz="5004" i="true">
                <a:solidFill>
                  <a:srgbClr val="FFFFFF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 SALDIRISININ ÖZETI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5870678"/>
            <a:ext cx="17337881" cy="44163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1080372" indent="-540186" lvl="1">
              <a:lnSpc>
                <a:spcPts val="7005"/>
              </a:lnSpc>
              <a:buFont typeface="Arial"/>
              <a:buChar char="•"/>
            </a:pPr>
            <a:r>
              <a:rPr lang="en-US" sz="5004" i="true">
                <a:solidFill>
                  <a:srgbClr val="FFFFFF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HEDEF: EV ŞARJ YÖNETIM SISTEMI VE ILETIŞIM AĞI</a:t>
            </a:r>
          </a:p>
          <a:p>
            <a:pPr algn="ctr" marL="1080372" indent="-540186" lvl="1">
              <a:lnSpc>
                <a:spcPts val="7005"/>
              </a:lnSpc>
              <a:spcBef>
                <a:spcPct val="0"/>
              </a:spcBef>
              <a:buFont typeface="Arial"/>
              <a:buChar char="•"/>
            </a:pPr>
            <a:r>
              <a:rPr lang="en-US" sz="5004" i="true">
                <a:solidFill>
                  <a:srgbClr val="FFFFFF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Normal D</a:t>
            </a:r>
            <a:r>
              <a:rPr lang="en-US" sz="5004" i="true">
                <a:solidFill>
                  <a:srgbClr val="FFFFFF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AVRANIŞ: ŞARJ TALEPLERI DÜZENLI VE MAKUL YOĞUNLUKTADIR</a:t>
            </a:r>
          </a:p>
          <a:p>
            <a:pPr algn="ctr" marL="1080372" indent="-540186" lvl="1">
              <a:lnSpc>
                <a:spcPts val="7005"/>
              </a:lnSpc>
              <a:spcBef>
                <a:spcPct val="0"/>
              </a:spcBef>
              <a:buFont typeface="Arial"/>
              <a:buChar char="•"/>
            </a:pPr>
            <a:r>
              <a:rPr lang="en-US" sz="5004" i="true">
                <a:solidFill>
                  <a:srgbClr val="FFFFFF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ANORMAL DAVRANIŞ: BIR VEYA BIRDEN FAZLA ISTASYONDAN ÇOK SAYIDA SAHTE TALEP</a:t>
            </a:r>
          </a:p>
          <a:p>
            <a:pPr algn="ctr" marL="1080372" indent="-540186" lvl="1">
              <a:lnSpc>
                <a:spcPts val="7005"/>
              </a:lnSpc>
              <a:spcBef>
                <a:spcPct val="0"/>
              </a:spcBef>
              <a:buFont typeface="Arial"/>
              <a:buChar char="•"/>
            </a:pPr>
            <a:r>
              <a:rPr lang="en-US" sz="5004" i="true">
                <a:solidFill>
                  <a:srgbClr val="FFFFFF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SONUÇ: AŞIRI YÜKLENME, HIZMET GECIKMESI, ISTASYONLARIN DEVRE DIŞI KALMASI</a:t>
            </a:r>
          </a:p>
          <a:p>
            <a:pPr algn="ctr">
              <a:lnSpc>
                <a:spcPts val="7005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544430" y="0"/>
            <a:ext cx="8743570" cy="5825403"/>
          </a:xfrm>
          <a:custGeom>
            <a:avLst/>
            <a:gdLst/>
            <a:ahLst/>
            <a:cxnLst/>
            <a:rect r="r" b="b" t="t" l="l"/>
            <a:pathLst>
              <a:path h="5825403" w="8743570">
                <a:moveTo>
                  <a:pt x="0" y="0"/>
                </a:moveTo>
                <a:lnTo>
                  <a:pt x="8743570" y="0"/>
                </a:lnTo>
                <a:lnTo>
                  <a:pt x="8743570" y="5825403"/>
                </a:lnTo>
                <a:lnTo>
                  <a:pt x="0" y="58254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03341" y="205330"/>
            <a:ext cx="8475534" cy="2920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60"/>
              </a:lnSpc>
              <a:spcBef>
                <a:spcPct val="0"/>
              </a:spcBef>
            </a:pPr>
            <a:r>
              <a:rPr lang="en-US" sz="8400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AD-GS Ç</a:t>
            </a:r>
            <a:r>
              <a:rPr lang="en-US" sz="8400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ERÇEVESI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03341" y="3213282"/>
            <a:ext cx="8475534" cy="656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17"/>
              </a:lnSpc>
              <a:spcBef>
                <a:spcPct val="0"/>
              </a:spcBef>
            </a:pPr>
            <a:r>
              <a:rPr lang="en-US" sz="3869" i="true">
                <a:solidFill>
                  <a:srgbClr val="000000"/>
                </a:solidFill>
                <a:latin typeface="Cardo Italics"/>
                <a:ea typeface="Cardo Italics"/>
                <a:cs typeface="Cardo Italics"/>
                <a:sym typeface="Cardo Italics"/>
              </a:rPr>
              <a:t>G</a:t>
            </a:r>
            <a:r>
              <a:rPr lang="en-US" sz="3869" i="true">
                <a:solidFill>
                  <a:srgbClr val="000000"/>
                </a:solidFill>
                <a:latin typeface="Cardo Italics"/>
                <a:ea typeface="Cardo Italics"/>
                <a:cs typeface="Cardo Italics"/>
                <a:sym typeface="Cardo Italics"/>
              </a:rPr>
              <a:t>rid Sentinel (AD-GS) Nedir?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0" y="5000625"/>
            <a:ext cx="12074857" cy="5156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777240" indent="-388620" lvl="1">
              <a:lnSpc>
                <a:spcPts val="5040"/>
              </a:lnSpc>
              <a:spcBef>
                <a:spcPct val="0"/>
              </a:spcBef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ML/DL TAB</a:t>
            </a:r>
            <a:r>
              <a:rPr lang="en-US" sz="3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ANLI ANOMALI TESPIT ÇERÇEVESI</a:t>
            </a:r>
          </a:p>
          <a:p>
            <a:pPr algn="ctr" marL="777240" indent="-388620" lvl="1">
              <a:lnSpc>
                <a:spcPts val="5040"/>
              </a:lnSpc>
              <a:spcBef>
                <a:spcPct val="0"/>
              </a:spcBef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LSTM VE OTOKODLAYICI MODELLERIYLE ZAMAN SERISI ANALIZI</a:t>
            </a:r>
          </a:p>
          <a:p>
            <a:pPr algn="ctr" marL="777240" indent="-388620" lvl="1">
              <a:lnSpc>
                <a:spcPts val="5040"/>
              </a:lnSpc>
              <a:spcBef>
                <a:spcPct val="0"/>
              </a:spcBef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GERÇEK ZAMANLI (&lt;15 MS) TESPIT KABILIYETI</a:t>
            </a:r>
          </a:p>
          <a:p>
            <a:pPr algn="ctr" marL="777240" indent="-388620" lvl="1">
              <a:lnSpc>
                <a:spcPts val="5040"/>
              </a:lnSpc>
              <a:spcBef>
                <a:spcPct val="0"/>
              </a:spcBef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%96.8 DOĞRULUK ORANI</a:t>
            </a:r>
          </a:p>
          <a:p>
            <a:pPr algn="ctr" marL="777240" indent="-388620" lvl="1">
              <a:lnSpc>
                <a:spcPts val="5040"/>
              </a:lnSpc>
              <a:spcBef>
                <a:spcPct val="0"/>
              </a:spcBef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ÇOK KATMANLI SAVUNMA: VERI, AĞ, ISTASYON SEVIYELERINDE IZLEME</a:t>
            </a:r>
          </a:p>
          <a:p>
            <a:pPr algn="ctr">
              <a:lnSpc>
                <a:spcPts val="504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2614124">
            <a:off x="-1803602" y="5973735"/>
            <a:ext cx="7698132" cy="7672125"/>
          </a:xfrm>
          <a:custGeom>
            <a:avLst/>
            <a:gdLst/>
            <a:ahLst/>
            <a:cxnLst/>
            <a:rect r="r" b="b" t="t" l="l"/>
            <a:pathLst>
              <a:path h="7672125" w="7698132">
                <a:moveTo>
                  <a:pt x="0" y="0"/>
                </a:moveTo>
                <a:lnTo>
                  <a:pt x="7698133" y="0"/>
                </a:lnTo>
                <a:lnTo>
                  <a:pt x="7698133" y="7672125"/>
                </a:lnTo>
                <a:lnTo>
                  <a:pt x="0" y="767212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803825" y="5124587"/>
            <a:ext cx="7005758" cy="8723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05"/>
              </a:lnSpc>
              <a:spcBef>
                <a:spcPct val="0"/>
              </a:spcBef>
            </a:pPr>
          </a:p>
        </p:txBody>
      </p:sp>
      <p:grpSp>
        <p:nvGrpSpPr>
          <p:cNvPr name="Group 4" id="4"/>
          <p:cNvGrpSpPr/>
          <p:nvPr/>
        </p:nvGrpSpPr>
        <p:grpSpPr>
          <a:xfrm rot="0">
            <a:off x="9687479" y="2754386"/>
            <a:ext cx="7829399" cy="758076"/>
            <a:chOff x="0" y="0"/>
            <a:chExt cx="10439199" cy="101076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141411"/>
              <a:ext cx="622375" cy="732990"/>
            </a:xfrm>
            <a:custGeom>
              <a:avLst/>
              <a:gdLst/>
              <a:ahLst/>
              <a:cxnLst/>
              <a:rect r="r" b="b" t="t" l="l"/>
              <a:pathLst>
                <a:path h="732990" w="622375">
                  <a:moveTo>
                    <a:pt x="0" y="0"/>
                  </a:moveTo>
                  <a:lnTo>
                    <a:pt x="622375" y="0"/>
                  </a:lnTo>
                  <a:lnTo>
                    <a:pt x="622375" y="732990"/>
                  </a:lnTo>
                  <a:lnTo>
                    <a:pt x="0" y="732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 rot="0">
              <a:off x="1098187" y="-114300"/>
              <a:ext cx="9341011" cy="11250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005"/>
                </a:lnSpc>
                <a:spcBef>
                  <a:spcPct val="0"/>
                </a:spcBef>
              </a:pPr>
            </a:p>
          </p:txBody>
        </p:sp>
      </p:grp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1314601" y="3720488"/>
          <a:ext cx="7635154" cy="4552950"/>
        </p:xfrm>
        <a:graphic>
          <a:graphicData uri="http://schemas.openxmlformats.org/drawingml/2006/table">
            <a:tbl>
              <a:tblPr/>
              <a:tblGrid>
                <a:gridCol w="3484189"/>
                <a:gridCol w="4150965"/>
              </a:tblGrid>
              <a:tr h="102777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899"/>
                        </a:lnSpc>
                        <a:defRPr/>
                      </a:pPr>
                      <a:r>
                        <a:rPr lang="en-US" sz="3499">
                          <a:solidFill>
                            <a:srgbClr val="FFFFFF"/>
                          </a:solidFill>
                          <a:latin typeface="Pathway Gothic One"/>
                          <a:ea typeface="Pathway Gothic One"/>
                          <a:cs typeface="Pathway Gothic One"/>
                          <a:sym typeface="Pathway Gothic One"/>
                        </a:rPr>
                        <a:t>GÜÇLÜ YÖNLER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899"/>
                        </a:lnSpc>
                        <a:defRPr/>
                      </a:pPr>
                      <a:r>
                        <a:rPr lang="en-US" sz="3499">
                          <a:solidFill>
                            <a:srgbClr val="FFFFFF"/>
                          </a:solidFill>
                          <a:latin typeface="Pathway Gothic One"/>
                          <a:ea typeface="Pathway Gothic One"/>
                          <a:cs typeface="Pathway Gothic One"/>
                          <a:sym typeface="Pathway Gothic One"/>
                        </a:rPr>
                        <a:t>ZAYIF YÖNLER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962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>
                          <a:solidFill>
                            <a:srgbClr val="FFFFFF"/>
                          </a:solidFill>
                          <a:latin typeface="Pathway Gothic One"/>
                          <a:ea typeface="Pathway Gothic One"/>
                          <a:cs typeface="Pathway Gothic One"/>
                          <a:sym typeface="Pathway Gothic One"/>
                        </a:rPr>
                        <a:t>Yüksek doğruluk (%96.8)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>
                          <a:solidFill>
                            <a:srgbClr val="FFFFFF"/>
                          </a:solidFill>
                          <a:latin typeface="Pathway Gothic One"/>
                          <a:ea typeface="Pathway Gothic One"/>
                          <a:cs typeface="Pathway Gothic One"/>
                          <a:sym typeface="Pathway Gothic One"/>
                        </a:rPr>
                        <a:t>Veri kalitesine bağımlılık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777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>
                          <a:solidFill>
                            <a:srgbClr val="FFFFFF"/>
                          </a:solidFill>
                          <a:latin typeface="Pathway Gothic One"/>
                          <a:ea typeface="Pathway Gothic One"/>
                          <a:cs typeface="Pathway Gothic One"/>
                          <a:sym typeface="Pathway Gothic One"/>
                        </a:rPr>
                        <a:t>Gerçek zamanlı tepki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>
                          <a:solidFill>
                            <a:srgbClr val="FFFFFF"/>
                          </a:solidFill>
                          <a:latin typeface="Pathway Gothic One"/>
                          <a:ea typeface="Pathway Gothic One"/>
                          <a:cs typeface="Pathway Gothic One"/>
                          <a:sym typeface="Pathway Gothic One"/>
                        </a:rPr>
                        <a:t>Dağıtık saldırılarda zayıflık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777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>
                          <a:solidFill>
                            <a:srgbClr val="FFFFFF"/>
                          </a:solidFill>
                          <a:latin typeface="Pathway Gothic One"/>
                          <a:ea typeface="Pathway Gothic One"/>
                          <a:cs typeface="Pathway Gothic One"/>
                          <a:sym typeface="Pathway Gothic One"/>
                        </a:rPr>
                        <a:t>Merkezî entegrasyon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>
                          <a:solidFill>
                            <a:srgbClr val="FFFFFF"/>
                          </a:solidFill>
                          <a:latin typeface="Pathway Gothic One"/>
                          <a:ea typeface="Pathway Gothic One"/>
                          <a:cs typeface="Pathway Gothic One"/>
                          <a:sym typeface="Pathway Gothic One"/>
                        </a:rPr>
                        <a:t>Yanlış pozitif riski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name="Table 8" id="8"/>
          <p:cNvGraphicFramePr>
            <a:graphicFrameLocks noGrp="true"/>
          </p:cNvGraphicFramePr>
          <p:nvPr/>
        </p:nvGraphicFramePr>
        <p:xfrm>
          <a:off x="9687479" y="3720488"/>
          <a:ext cx="7544158" cy="4552950"/>
        </p:xfrm>
        <a:graphic>
          <a:graphicData uri="http://schemas.openxmlformats.org/drawingml/2006/table">
            <a:tbl>
              <a:tblPr/>
              <a:tblGrid>
                <a:gridCol w="3887139"/>
                <a:gridCol w="3657019"/>
              </a:tblGrid>
              <a:tr h="102777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899"/>
                        </a:lnSpc>
                        <a:defRPr/>
                      </a:pPr>
                      <a:r>
                        <a:rPr lang="en-US" sz="3499">
                          <a:solidFill>
                            <a:srgbClr val="FFFFFF"/>
                          </a:solidFill>
                          <a:latin typeface="Pathway Gothic One"/>
                          <a:ea typeface="Pathway Gothic One"/>
                          <a:cs typeface="Pathway Gothic One"/>
                          <a:sym typeface="Pathway Gothic One"/>
                        </a:rPr>
                        <a:t>Fırsatlar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899"/>
                        </a:lnSpc>
                        <a:defRPr/>
                      </a:pPr>
                      <a:r>
                        <a:rPr lang="en-US" sz="3499">
                          <a:solidFill>
                            <a:srgbClr val="FFFFFF"/>
                          </a:solidFill>
                          <a:latin typeface="Pathway Gothic One"/>
                          <a:ea typeface="Pathway Gothic One"/>
                          <a:cs typeface="Pathway Gothic One"/>
                          <a:sym typeface="Pathway Gothic One"/>
                        </a:rPr>
                        <a:t>Tehditler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777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219"/>
                        </a:lnSpc>
                        <a:defRPr/>
                      </a:pPr>
                      <a:r>
                        <a:rPr lang="en-US" sz="2299">
                          <a:solidFill>
                            <a:srgbClr val="FEFEFE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SLA ve hizmet sürekliliği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>
                          <a:solidFill>
                            <a:srgbClr val="FFFFFF"/>
                          </a:solidFill>
                          <a:latin typeface="Pathway Gothic One"/>
                          <a:ea typeface="Pathway Gothic One"/>
                          <a:cs typeface="Pathway Gothic One"/>
                          <a:sym typeface="Pathway Gothic One"/>
                        </a:rPr>
                        <a:t>Uyarlanabilir saldırılar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962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>
                          <a:solidFill>
                            <a:srgbClr val="FFFFFF"/>
                          </a:solidFill>
                          <a:latin typeface="Pathway Gothic One"/>
                          <a:ea typeface="Pathway Gothic One"/>
                          <a:cs typeface="Pathway Gothic One"/>
                          <a:sym typeface="Pathway Gothic One"/>
                        </a:rPr>
                        <a:t>Otonom savunma sistemleri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>
                          <a:solidFill>
                            <a:srgbClr val="FFFFFF"/>
                          </a:solidFill>
                          <a:latin typeface="Pathway Gothic One"/>
                          <a:ea typeface="Pathway Gothic One"/>
                          <a:cs typeface="Pathway Gothic One"/>
                          <a:sym typeface="Pathway Gothic One"/>
                        </a:rPr>
                        <a:t>Gizlilik / veri paylaşımı riski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777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>
                          <a:solidFill>
                            <a:srgbClr val="FFFFFF"/>
                          </a:solidFill>
                          <a:latin typeface="Pathway Gothic One"/>
                          <a:ea typeface="Pathway Gothic One"/>
                          <a:cs typeface="Pathway Gothic One"/>
                          <a:sym typeface="Pathway Gothic One"/>
                        </a:rPr>
                        <a:t>Regülasyon uyumu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>
                          <a:solidFill>
                            <a:srgbClr val="FFFFFF"/>
                          </a:solidFill>
                          <a:latin typeface="Pathway Gothic One"/>
                          <a:ea typeface="Pathway Gothic One"/>
                          <a:cs typeface="Pathway Gothic One"/>
                          <a:sym typeface="Pathway Gothic One"/>
                        </a:rPr>
                        <a:t>AD-GS’in hedef alınması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name="Group 9" id="9"/>
          <p:cNvGrpSpPr/>
          <p:nvPr/>
        </p:nvGrpSpPr>
        <p:grpSpPr>
          <a:xfrm rot="0">
            <a:off x="980185" y="2754386"/>
            <a:ext cx="7829399" cy="758076"/>
            <a:chOff x="0" y="0"/>
            <a:chExt cx="10439199" cy="101076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141411"/>
              <a:ext cx="622375" cy="732990"/>
            </a:xfrm>
            <a:custGeom>
              <a:avLst/>
              <a:gdLst/>
              <a:ahLst/>
              <a:cxnLst/>
              <a:rect r="r" b="b" t="t" l="l"/>
              <a:pathLst>
                <a:path h="732990" w="622375">
                  <a:moveTo>
                    <a:pt x="0" y="0"/>
                  </a:moveTo>
                  <a:lnTo>
                    <a:pt x="622375" y="0"/>
                  </a:lnTo>
                  <a:lnTo>
                    <a:pt x="622375" y="732990"/>
                  </a:lnTo>
                  <a:lnTo>
                    <a:pt x="0" y="732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 rot="0">
              <a:off x="1098187" y="-114300"/>
              <a:ext cx="9341011" cy="11250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005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10972800" y="237622"/>
            <a:ext cx="7315200" cy="3099816"/>
          </a:xfrm>
          <a:custGeom>
            <a:avLst/>
            <a:gdLst/>
            <a:ahLst/>
            <a:cxnLst/>
            <a:rect r="r" b="b" t="t" l="l"/>
            <a:pathLst>
              <a:path h="3099816" w="7315200">
                <a:moveTo>
                  <a:pt x="0" y="0"/>
                </a:moveTo>
                <a:lnTo>
                  <a:pt x="7315200" y="0"/>
                </a:lnTo>
                <a:lnTo>
                  <a:pt x="7315200" y="3099816"/>
                </a:lnTo>
                <a:lnTo>
                  <a:pt x="0" y="309981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028700" y="828675"/>
            <a:ext cx="12128782" cy="1717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  <a:spcBef>
                <a:spcPct val="0"/>
              </a:spcBef>
            </a:pPr>
            <a:r>
              <a:rPr lang="en-US" sz="9999" i="true">
                <a:solidFill>
                  <a:srgbClr val="FFFFFF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SWOT</a:t>
            </a:r>
            <a:r>
              <a:rPr lang="en-US" sz="9999" i="true">
                <a:solidFill>
                  <a:srgbClr val="FFFFFF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 ANALIZI (ÖZET TABLO)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7622753">
            <a:off x="-1629252" y="-8312660"/>
            <a:ext cx="30356903" cy="30356903"/>
          </a:xfrm>
          <a:custGeom>
            <a:avLst/>
            <a:gdLst/>
            <a:ahLst/>
            <a:cxnLst/>
            <a:rect r="r" b="b" t="t" l="l"/>
            <a:pathLst>
              <a:path h="30356903" w="30356903">
                <a:moveTo>
                  <a:pt x="0" y="0"/>
                </a:moveTo>
                <a:lnTo>
                  <a:pt x="30356903" y="0"/>
                </a:lnTo>
                <a:lnTo>
                  <a:pt x="30356903" y="30356902"/>
                </a:lnTo>
                <a:lnTo>
                  <a:pt x="0" y="303569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474658" y="-303492"/>
            <a:ext cx="19642936" cy="10893984"/>
          </a:xfrm>
          <a:custGeom>
            <a:avLst/>
            <a:gdLst/>
            <a:ahLst/>
            <a:cxnLst/>
            <a:rect r="r" b="b" t="t" l="l"/>
            <a:pathLst>
              <a:path h="10893984" w="19642936">
                <a:moveTo>
                  <a:pt x="0" y="0"/>
                </a:moveTo>
                <a:lnTo>
                  <a:pt x="19642936" y="0"/>
                </a:lnTo>
                <a:lnTo>
                  <a:pt x="19642936" y="10893984"/>
                </a:lnTo>
                <a:lnTo>
                  <a:pt x="0" y="108939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553606" y="0"/>
            <a:ext cx="6734394" cy="6949187"/>
          </a:xfrm>
          <a:custGeom>
            <a:avLst/>
            <a:gdLst/>
            <a:ahLst/>
            <a:cxnLst/>
            <a:rect r="r" b="b" t="t" l="l"/>
            <a:pathLst>
              <a:path h="6949187" w="6734394">
                <a:moveTo>
                  <a:pt x="0" y="0"/>
                </a:moveTo>
                <a:lnTo>
                  <a:pt x="6734394" y="0"/>
                </a:lnTo>
                <a:lnTo>
                  <a:pt x="6734394" y="6949187"/>
                </a:lnTo>
                <a:lnTo>
                  <a:pt x="0" y="694918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-131221" y="29286"/>
            <a:ext cx="11012613" cy="52788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62"/>
              </a:lnSpc>
              <a:spcBef>
                <a:spcPct val="0"/>
              </a:spcBef>
            </a:pPr>
            <a:r>
              <a:rPr lang="en-US" sz="10044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DDOS</a:t>
            </a:r>
            <a:r>
              <a:rPr lang="en-US" sz="10044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ANOMALISININ ETKILERI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-2223092" y="6283371"/>
            <a:ext cx="18516242" cy="4307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875111" indent="-437555" lvl="1">
              <a:lnSpc>
                <a:spcPts val="5674"/>
              </a:lnSpc>
              <a:spcBef>
                <a:spcPct val="0"/>
              </a:spcBef>
              <a:buFont typeface="Arial"/>
              <a:buChar char="•"/>
            </a:pPr>
            <a:r>
              <a:rPr lang="en-US" sz="4053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HIZMET KESINTISI VE KULLANICI M</a:t>
            </a:r>
            <a:r>
              <a:rPr lang="en-US" sz="4053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AĞDURIYETI</a:t>
            </a:r>
          </a:p>
          <a:p>
            <a:pPr algn="ctr" marL="875111" indent="-437555" lvl="1">
              <a:lnSpc>
                <a:spcPts val="5674"/>
              </a:lnSpc>
              <a:spcBef>
                <a:spcPct val="0"/>
              </a:spcBef>
              <a:buFont typeface="Arial"/>
              <a:buChar char="•"/>
            </a:pPr>
            <a:r>
              <a:rPr lang="en-US" sz="4053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ŞEBEKE KARARSIZLIĞI (YÜK DENGESIZLIĞI)</a:t>
            </a:r>
          </a:p>
          <a:p>
            <a:pPr algn="ctr" marL="875111" indent="-437555" lvl="1">
              <a:lnSpc>
                <a:spcPts val="5674"/>
              </a:lnSpc>
              <a:spcBef>
                <a:spcPct val="0"/>
              </a:spcBef>
              <a:buFont typeface="Arial"/>
              <a:buChar char="•"/>
            </a:pPr>
            <a:r>
              <a:rPr lang="en-US" sz="4053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FIZIKSEL KUYRUK VE OPERASYONEL KAOS</a:t>
            </a:r>
          </a:p>
          <a:p>
            <a:pPr algn="ctr" marL="875111" indent="-437555" lvl="1">
              <a:lnSpc>
                <a:spcPts val="5674"/>
              </a:lnSpc>
              <a:spcBef>
                <a:spcPct val="0"/>
              </a:spcBef>
              <a:buFont typeface="Arial"/>
              <a:buChar char="•"/>
            </a:pPr>
            <a:r>
              <a:rPr lang="en-US" sz="4053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GÜVENILIRLIK KAYBI</a:t>
            </a:r>
          </a:p>
          <a:p>
            <a:pPr algn="ctr" marL="875111" indent="-437555" lvl="1">
              <a:lnSpc>
                <a:spcPts val="5674"/>
              </a:lnSpc>
              <a:spcBef>
                <a:spcPct val="0"/>
              </a:spcBef>
              <a:buFont typeface="Arial"/>
              <a:buChar char="•"/>
            </a:pPr>
            <a:r>
              <a:rPr lang="en-US" sz="4053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AD-GS: BU TÜR ETKILERI ÖNCEDEN ALGILAYARAK ÖNLER</a:t>
            </a:r>
          </a:p>
          <a:p>
            <a:pPr algn="ctr">
              <a:lnSpc>
                <a:spcPts val="5674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7622753">
            <a:off x="-2352676" y="-7680981"/>
            <a:ext cx="30356903" cy="30356903"/>
          </a:xfrm>
          <a:custGeom>
            <a:avLst/>
            <a:gdLst/>
            <a:ahLst/>
            <a:cxnLst/>
            <a:rect r="r" b="b" t="t" l="l"/>
            <a:pathLst>
              <a:path h="30356903" w="30356903">
                <a:moveTo>
                  <a:pt x="0" y="0"/>
                </a:moveTo>
                <a:lnTo>
                  <a:pt x="30356903" y="0"/>
                </a:lnTo>
                <a:lnTo>
                  <a:pt x="30356903" y="30356903"/>
                </a:lnTo>
                <a:lnTo>
                  <a:pt x="0" y="303569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-1686077" y="1334314"/>
            <a:ext cx="8223720" cy="8195701"/>
          </a:xfrm>
          <a:custGeom>
            <a:avLst/>
            <a:gdLst/>
            <a:ahLst/>
            <a:cxnLst/>
            <a:rect r="r" b="b" t="t" l="l"/>
            <a:pathLst>
              <a:path h="8195701" w="8223720">
                <a:moveTo>
                  <a:pt x="8223721" y="0"/>
                </a:moveTo>
                <a:lnTo>
                  <a:pt x="0" y="0"/>
                </a:lnTo>
                <a:lnTo>
                  <a:pt x="0" y="8195701"/>
                </a:lnTo>
                <a:lnTo>
                  <a:pt x="8223721" y="8195701"/>
                </a:lnTo>
                <a:lnTo>
                  <a:pt x="8223721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0" y="0"/>
            <a:ext cx="13481069" cy="4458684"/>
            <a:chOff x="0" y="0"/>
            <a:chExt cx="17974758" cy="5944912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4648160"/>
              <a:ext cx="16637834" cy="11863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500"/>
                </a:lnSpc>
                <a:spcBef>
                  <a:spcPct val="0"/>
                </a:spcBef>
              </a:pPr>
            </a:p>
            <a:p>
              <a:pPr algn="l" marL="0" indent="0" lvl="0">
                <a:lnSpc>
                  <a:spcPts val="2680"/>
                </a:lnSpc>
                <a:spcBef>
                  <a:spcPct val="0"/>
                </a:spcBef>
              </a:pP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-200025"/>
              <a:ext cx="17974758" cy="45857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999"/>
                </a:lnSpc>
                <a:spcBef>
                  <a:spcPct val="0"/>
                </a:spcBef>
              </a:pPr>
              <a:r>
                <a:rPr lang="en-US" sz="9999">
                  <a:solidFill>
                    <a:srgbClr val="FFFFFF"/>
                  </a:solidFill>
                  <a:latin typeface="Alyssum"/>
                  <a:ea typeface="Alyssum"/>
                  <a:cs typeface="Alyssum"/>
                  <a:sym typeface="Alyssum"/>
                </a:rPr>
                <a:t>ÇIKARI</a:t>
              </a:r>
              <a:r>
                <a:rPr lang="en-US" sz="9999">
                  <a:solidFill>
                    <a:srgbClr val="FFFFFF"/>
                  </a:solidFill>
                  <a:latin typeface="Alyssum"/>
                  <a:ea typeface="Alyssum"/>
                  <a:cs typeface="Alyssum"/>
                  <a:sym typeface="Alyssum"/>
                </a:rPr>
                <a:t>MLAR VE ÖNERILER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0" y="3952772"/>
            <a:ext cx="18072710" cy="66558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908590" indent="-454295" lvl="1">
              <a:lnSpc>
                <a:spcPts val="5891"/>
              </a:lnSpc>
              <a:buFont typeface="Arial"/>
              <a:buChar char="•"/>
            </a:pPr>
            <a:r>
              <a:rPr lang="en-US" sz="4208">
                <a:solidFill>
                  <a:srgbClr val="FFFFFF"/>
                </a:solidFill>
                <a:latin typeface="Alyssum"/>
                <a:ea typeface="Alyssum"/>
                <a:cs typeface="Alyssum"/>
                <a:sym typeface="Alyssum"/>
              </a:rPr>
              <a:t>AD-GS, DDOS SALDIRILARININ ERKEN TESPITI IÇIN ETKILI BIR MODELDIR.</a:t>
            </a:r>
          </a:p>
          <a:p>
            <a:pPr algn="ctr" marL="908590" indent="-454295" lvl="1">
              <a:lnSpc>
                <a:spcPts val="5891"/>
              </a:lnSpc>
              <a:buFont typeface="Arial"/>
              <a:buChar char="•"/>
            </a:pPr>
            <a:r>
              <a:rPr lang="en-US" sz="4208">
                <a:solidFill>
                  <a:srgbClr val="FFFFFF"/>
                </a:solidFill>
                <a:latin typeface="Alyssum"/>
                <a:ea typeface="Alyssum"/>
                <a:cs typeface="Alyssum"/>
                <a:sym typeface="Alyssum"/>
              </a:rPr>
              <a:t>Modelin başarımı, sürekli güncelleme ve nitelikli veriyle artırılabilir.</a:t>
            </a:r>
          </a:p>
          <a:p>
            <a:pPr algn="ctr" marL="908590" indent="-454295" lvl="1">
              <a:lnSpc>
                <a:spcPts val="5891"/>
              </a:lnSpc>
              <a:spcBef>
                <a:spcPct val="0"/>
              </a:spcBef>
              <a:buFont typeface="Arial"/>
              <a:buChar char="•"/>
            </a:pPr>
            <a:r>
              <a:rPr lang="en-US" sz="4208">
                <a:solidFill>
                  <a:srgbClr val="FFFFFF"/>
                </a:solidFill>
                <a:latin typeface="Alyssum"/>
                <a:ea typeface="Alyssum"/>
                <a:cs typeface="Alyssum"/>
                <a:sym typeface="Alyssum"/>
              </a:rPr>
              <a:t>Federated le</a:t>
            </a:r>
            <a:r>
              <a:rPr lang="en-US" sz="4208">
                <a:solidFill>
                  <a:srgbClr val="FFFFFF"/>
                </a:solidFill>
                <a:latin typeface="Alyssum"/>
                <a:ea typeface="Alyssum"/>
                <a:cs typeface="Alyssum"/>
                <a:sym typeface="Alyssum"/>
              </a:rPr>
              <a:t>ARNING, BLOCKCHAIN VE MTLS ENTEGRASYONU GÜVENLIĞI GÜÇLENDIREBILIR.</a:t>
            </a:r>
          </a:p>
          <a:p>
            <a:pPr algn="ctr" marL="908590" indent="-454295" lvl="1">
              <a:lnSpc>
                <a:spcPts val="5891"/>
              </a:lnSpc>
              <a:spcBef>
                <a:spcPct val="0"/>
              </a:spcBef>
              <a:buFont typeface="Arial"/>
              <a:buChar char="•"/>
            </a:pPr>
            <a:r>
              <a:rPr lang="en-US" sz="4208">
                <a:solidFill>
                  <a:srgbClr val="FFFFFF"/>
                </a:solidFill>
                <a:latin typeface="Alyssum"/>
                <a:ea typeface="Alyssum"/>
                <a:cs typeface="Alyssum"/>
                <a:sym typeface="Alyssum"/>
              </a:rPr>
              <a:t>GELECEKTE SISTEMIN GERÇEK ISTASYON VERILERIYLE SAHA TESTLERI ÖNERILMEKTEDIR.</a:t>
            </a:r>
          </a:p>
          <a:p>
            <a:pPr algn="ctr">
              <a:lnSpc>
                <a:spcPts val="5891"/>
              </a:lnSpc>
              <a:spcBef>
                <a:spcPct val="0"/>
              </a:spcBef>
            </a:pP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4702665" y="0"/>
            <a:ext cx="3585335" cy="3585335"/>
          </a:xfrm>
          <a:custGeom>
            <a:avLst/>
            <a:gdLst/>
            <a:ahLst/>
            <a:cxnLst/>
            <a:rect r="r" b="b" t="t" l="l"/>
            <a:pathLst>
              <a:path h="3585335" w="3585335">
                <a:moveTo>
                  <a:pt x="0" y="0"/>
                </a:moveTo>
                <a:lnTo>
                  <a:pt x="3585335" y="0"/>
                </a:lnTo>
                <a:lnTo>
                  <a:pt x="3585335" y="3585335"/>
                </a:lnTo>
                <a:lnTo>
                  <a:pt x="0" y="358533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0" y="141189"/>
            <a:ext cx="6042849" cy="34986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12"/>
              </a:lnSpc>
              <a:spcBef>
                <a:spcPct val="0"/>
              </a:spcBef>
            </a:pPr>
            <a:r>
              <a:rPr lang="en-US" sz="10009" i="true">
                <a:solidFill>
                  <a:srgbClr val="FFFFFF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K</a:t>
            </a:r>
            <a:r>
              <a:rPr lang="en-US" sz="10009" i="true">
                <a:solidFill>
                  <a:srgbClr val="FFFFFF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AYNAKÇA</a:t>
            </a:r>
          </a:p>
          <a:p>
            <a:pPr algn="ctr">
              <a:lnSpc>
                <a:spcPts val="14012"/>
              </a:lnSpc>
              <a:spcBef>
                <a:spcPct val="0"/>
              </a:spcBef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251449" y="2315682"/>
            <a:ext cx="16398299" cy="79713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819033" indent="-409516" lvl="1">
              <a:lnSpc>
                <a:spcPts val="5311"/>
              </a:lnSpc>
              <a:spcBef>
                <a:spcPct val="0"/>
              </a:spcBef>
              <a:buFont typeface="Arial"/>
              <a:buChar char="•"/>
            </a:pPr>
            <a:r>
              <a:rPr lang="en-US" sz="3793">
                <a:solidFill>
                  <a:srgbClr val="FFFFFF"/>
                </a:solidFill>
                <a:latin typeface="Prompt"/>
                <a:ea typeface="Prompt"/>
                <a:cs typeface="Prompt"/>
                <a:sym typeface="Prompt"/>
              </a:rPr>
              <a:t>KESAVAN, V. T. ET </a:t>
            </a:r>
            <a:r>
              <a:rPr lang="en-US" sz="3793">
                <a:solidFill>
                  <a:srgbClr val="FFFFFF"/>
                </a:solidFill>
                <a:latin typeface="Prompt"/>
                <a:ea typeface="Prompt"/>
                <a:cs typeface="Prompt"/>
                <a:sym typeface="Prompt"/>
              </a:rPr>
              <a:t>AL. (2025). ANOMALY DETECTION WITH GRID SENTINEL FRAMEWORK FOR EV CHARGING STATIONS. INT. J. SMART ENERGY SYSTEMS.</a:t>
            </a:r>
          </a:p>
          <a:p>
            <a:pPr algn="ctr" marL="819033" indent="-409516" lvl="1">
              <a:lnSpc>
                <a:spcPts val="5311"/>
              </a:lnSpc>
              <a:spcBef>
                <a:spcPct val="0"/>
              </a:spcBef>
              <a:buFont typeface="Arial"/>
              <a:buChar char="•"/>
            </a:pPr>
            <a:r>
              <a:rPr lang="en-US" sz="3793">
                <a:solidFill>
                  <a:srgbClr val="FFFFFF"/>
                </a:solidFill>
                <a:latin typeface="Prompt"/>
                <a:ea typeface="Prompt"/>
                <a:cs typeface="Prompt"/>
                <a:sym typeface="Prompt"/>
              </a:rPr>
              <a:t>ZHOU, Y. ET AL. (2024). DEEP LEARNING-BASED CYBER-ATTACK DETECTION IN EV NETWORKS. IEEE TRANS. SMART GRID.</a:t>
            </a:r>
          </a:p>
          <a:p>
            <a:pPr algn="ctr" marL="819033" indent="-409516" lvl="1">
              <a:lnSpc>
                <a:spcPts val="5311"/>
              </a:lnSpc>
              <a:spcBef>
                <a:spcPct val="0"/>
              </a:spcBef>
              <a:buFont typeface="Arial"/>
              <a:buChar char="•"/>
            </a:pPr>
            <a:r>
              <a:rPr lang="en-US" sz="3793">
                <a:solidFill>
                  <a:srgbClr val="FFFFFF"/>
                </a:solidFill>
                <a:latin typeface="Prompt"/>
                <a:ea typeface="Prompt"/>
                <a:cs typeface="Prompt"/>
                <a:sym typeface="Prompt"/>
              </a:rPr>
              <a:t>LI, X. &amp; WANG, P. (2023). FEDERATED ANOMALY DETECTION FOR SMART GRIDS. ENERGY INFORMATICS.</a:t>
            </a:r>
          </a:p>
          <a:p>
            <a:pPr algn="ctr" marL="819033" indent="-409516" lvl="1">
              <a:lnSpc>
                <a:spcPts val="5311"/>
              </a:lnSpc>
              <a:spcBef>
                <a:spcPct val="0"/>
              </a:spcBef>
              <a:buFont typeface="Arial"/>
              <a:buChar char="•"/>
            </a:pPr>
            <a:r>
              <a:rPr lang="en-US" sz="3793">
                <a:solidFill>
                  <a:srgbClr val="FFFFFF"/>
                </a:solidFill>
                <a:latin typeface="Prompt"/>
                <a:ea typeface="Prompt"/>
                <a:cs typeface="Prompt"/>
                <a:sym typeface="Prompt"/>
              </a:rPr>
              <a:t>SINGH, R. &amp; SHARMA, K. (2024). CYBER-PHYSICAL SECURITY OF EV CHARGING INFRASTRUCTURE. J. ELECTR. SYST. INF. TECHNOL.</a:t>
            </a:r>
          </a:p>
          <a:p>
            <a:pPr algn="ctr" marL="819033" indent="-409516" lvl="1">
              <a:lnSpc>
                <a:spcPts val="5311"/>
              </a:lnSpc>
              <a:spcBef>
                <a:spcPct val="0"/>
              </a:spcBef>
              <a:buFont typeface="Arial"/>
              <a:buChar char="•"/>
            </a:pPr>
            <a:r>
              <a:rPr lang="en-US" sz="3793">
                <a:solidFill>
                  <a:srgbClr val="FFFFFF"/>
                </a:solidFill>
                <a:latin typeface="Prompt"/>
                <a:ea typeface="Prompt"/>
                <a:cs typeface="Prompt"/>
                <a:sym typeface="Prompt"/>
              </a:rPr>
              <a:t>ENISA. (2023). CYBERSECURITY OF ELECTRIC VEHICLE CHARGING INFRASTRUCTURE – THREAT LANDSCAPE.</a:t>
            </a:r>
          </a:p>
          <a:p>
            <a:pPr algn="ctr">
              <a:lnSpc>
                <a:spcPts val="5311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DAG4Uklh23M</dc:identifier>
  <dcterms:modified xsi:type="dcterms:W3CDTF">2011-08-01T06:04:30Z</dcterms:modified>
  <cp:revision>1</cp:revision>
  <dc:title>EV Şarj İstasyonlarında DDoS Tabanlı Anomali Tespiti</dc:title>
</cp:coreProperties>
</file>